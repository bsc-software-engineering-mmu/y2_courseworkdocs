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4" d="100"/>
          <a:sy n="74" d="100"/>
        </p:scale>
        <p:origin x="57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EB712588-04B1-427B-82EE-E8DB90309F08}" type="datetimeFigureOut">
              <a:rPr lang="en-US" dirty="0"/>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3/31/2014</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3/31/2014</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65" r:id="rId4"/>
    <p:sldLayoutId id="2147483653" r:id="rId5"/>
    <p:sldLayoutId id="2147483654" r:id="rId6"/>
    <p:sldLayoutId id="2147483655" r:id="rId7"/>
    <p:sldLayoutId id="2147483666" r:id="rId8"/>
    <p:sldLayoutId id="2147483657" r:id="rId9"/>
    <p:sldLayoutId id="2147483660" r:id="rId10"/>
    <p:sldLayoutId id="2147483661" r:id="rId11"/>
    <p:sldLayoutId id="2147483662" r:id="rId12"/>
    <p:sldLayoutId id="2147483663" r:id="rId13"/>
    <p:sldLayoutId id="2147483664" r:id="rId14"/>
    <p:sldLayoutId id="2147483667"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SQL JOINS</a:t>
            </a:r>
            <a:endParaRPr lang="en-US"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161303887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93183"/>
            <a:ext cx="8596668" cy="6478073"/>
          </a:xfrm>
        </p:spPr>
        <p:txBody>
          <a:bodyPr>
            <a:normAutofit lnSpcReduction="10000"/>
          </a:bodyPr>
          <a:lstStyle/>
          <a:p>
            <a:r>
              <a:rPr lang="en-US" sz="2800" dirty="0"/>
              <a:t>SQL joins are used to query data from two or more tables, based on a relationship between certain columns in these tables.</a:t>
            </a:r>
          </a:p>
          <a:p>
            <a:r>
              <a:rPr lang="en-US" sz="2800" dirty="0"/>
              <a:t>The JOIN keyword is used in an SQL statement to query data from two or more tables, based on a relationship between certain columns in these tables.</a:t>
            </a:r>
          </a:p>
          <a:p>
            <a:r>
              <a:rPr lang="en-US" sz="2800" dirty="0"/>
              <a:t>Tables in a database are often related to each other with keys.</a:t>
            </a:r>
          </a:p>
          <a:p>
            <a:r>
              <a:rPr lang="en-US" sz="2800" dirty="0"/>
              <a:t>A primary key is a column (or a combination of columns) with a unique value for each row. Each primary key value must be unique within the table. The purpose is to bind data together, across tables, without repeating all of the data in every table.</a:t>
            </a:r>
          </a:p>
          <a:p>
            <a:endParaRPr lang="en-US" dirty="0"/>
          </a:p>
        </p:txBody>
      </p:sp>
    </p:spTree>
    <p:extLst>
      <p:ext uri="{BB962C8B-B14F-4D97-AF65-F5344CB8AC3E}">
        <p14:creationId xmlns:p14="http://schemas.microsoft.com/office/powerpoint/2010/main" val="27429950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12940" y="515156"/>
            <a:ext cx="8596668" cy="6181858"/>
          </a:xfrm>
        </p:spPr>
        <p:txBody>
          <a:bodyPr>
            <a:normAutofit fontScale="25000" lnSpcReduction="20000"/>
          </a:bodyPr>
          <a:lstStyle/>
          <a:p>
            <a:endParaRPr lang="en-US" sz="3400" dirty="0" smtClean="0"/>
          </a:p>
          <a:p>
            <a:r>
              <a:rPr lang="en-US" sz="8000" dirty="0" smtClean="0"/>
              <a:t>Look </a:t>
            </a:r>
            <a:r>
              <a:rPr lang="en-US" sz="8000" dirty="0"/>
              <a:t>at the "Persons" table</a:t>
            </a:r>
            <a:r>
              <a:rPr lang="en-US" sz="8000" dirty="0" smtClean="0"/>
              <a:t>:</a:t>
            </a:r>
          </a:p>
          <a:p>
            <a:endParaRPr lang="en-US" sz="8000" dirty="0" smtClean="0"/>
          </a:p>
          <a:p>
            <a:endParaRPr lang="en-US" sz="8000" dirty="0"/>
          </a:p>
          <a:p>
            <a:endParaRPr lang="en-US" sz="8000" dirty="0" smtClean="0"/>
          </a:p>
          <a:p>
            <a:endParaRPr lang="en-US" sz="8000" dirty="0"/>
          </a:p>
          <a:p>
            <a:endParaRPr lang="en-US" sz="8000" dirty="0" smtClean="0"/>
          </a:p>
          <a:p>
            <a:endParaRPr lang="en-US" sz="8000" dirty="0"/>
          </a:p>
          <a:p>
            <a:endParaRPr lang="en-US" sz="8000" dirty="0" smtClean="0"/>
          </a:p>
          <a:p>
            <a:endParaRPr lang="en-US" sz="8000" dirty="0"/>
          </a:p>
          <a:p>
            <a:endParaRPr lang="en-US" sz="8000" dirty="0" smtClean="0"/>
          </a:p>
          <a:p>
            <a:endParaRPr lang="en-US" sz="8000" dirty="0"/>
          </a:p>
          <a:p>
            <a:endParaRPr lang="en-US" sz="8000" dirty="0" smtClean="0"/>
          </a:p>
          <a:p>
            <a:endParaRPr lang="en-US" sz="8000" dirty="0"/>
          </a:p>
          <a:p>
            <a:r>
              <a:rPr lang="en-US" sz="8000" dirty="0"/>
              <a:t>Note that the "</a:t>
            </a:r>
            <a:r>
              <a:rPr lang="en-US" sz="8000" dirty="0" err="1"/>
              <a:t>P_Id</a:t>
            </a:r>
            <a:r>
              <a:rPr lang="en-US" sz="8000" dirty="0"/>
              <a:t>" column is the primary key in the "Persons" table. This means that no two rows can have the same </a:t>
            </a:r>
            <a:r>
              <a:rPr lang="en-US" sz="8000" dirty="0" err="1"/>
              <a:t>P_Id</a:t>
            </a:r>
            <a:r>
              <a:rPr lang="en-US" sz="8000" dirty="0"/>
              <a:t>. The </a:t>
            </a:r>
            <a:r>
              <a:rPr lang="en-US" sz="8000" dirty="0" err="1"/>
              <a:t>P_Id</a:t>
            </a:r>
            <a:r>
              <a:rPr lang="en-US" sz="8000" dirty="0"/>
              <a:t> distinguishes two persons even if they have the same name.</a:t>
            </a:r>
          </a:p>
          <a:p>
            <a:endParaRPr lang="en-US" dirty="0"/>
          </a:p>
          <a:p>
            <a:endParaRPr lang="en-US" dirty="0"/>
          </a:p>
        </p:txBody>
      </p:sp>
      <p:graphicFrame>
        <p:nvGraphicFramePr>
          <p:cNvPr id="6" name="Table 5"/>
          <p:cNvGraphicFramePr>
            <a:graphicFrameLocks noGrp="1"/>
          </p:cNvGraphicFramePr>
          <p:nvPr>
            <p:extLst>
              <p:ext uri="{D42A27DB-BD31-4B8C-83A1-F6EECF244321}">
                <p14:modId xmlns:p14="http://schemas.microsoft.com/office/powerpoint/2010/main" val="864073392"/>
              </p:ext>
            </p:extLst>
          </p:nvPr>
        </p:nvGraphicFramePr>
        <p:xfrm>
          <a:off x="167427" y="1197734"/>
          <a:ext cx="11281890" cy="3680660"/>
        </p:xfrm>
        <a:graphic>
          <a:graphicData uri="http://schemas.openxmlformats.org/drawingml/2006/table">
            <a:tbl>
              <a:tblPr firstRow="1" firstCol="1" bandRow="1">
                <a:tableStyleId>{5C22544A-7EE6-4342-B048-85BDC9FD1C3A}</a:tableStyleId>
              </a:tblPr>
              <a:tblGrid>
                <a:gridCol w="2256378"/>
                <a:gridCol w="2256378"/>
                <a:gridCol w="2256378"/>
                <a:gridCol w="2256378"/>
                <a:gridCol w="2256378"/>
              </a:tblGrid>
              <a:tr h="736132">
                <a:tc>
                  <a:txBody>
                    <a:bodyPr/>
                    <a:lstStyle/>
                    <a:p>
                      <a:pPr marL="0" marR="0">
                        <a:lnSpc>
                          <a:spcPct val="115000"/>
                        </a:lnSpc>
                        <a:spcBef>
                          <a:spcPts val="0"/>
                        </a:spcBef>
                        <a:spcAft>
                          <a:spcPts val="0"/>
                        </a:spcAft>
                      </a:pPr>
                      <a:r>
                        <a:rPr lang="en-US" sz="2800" dirty="0" err="1">
                          <a:effectLst/>
                        </a:rPr>
                        <a:t>P_Id</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LastName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FirstName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Address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City</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36132">
                <a:tc>
                  <a:txBody>
                    <a:bodyPr/>
                    <a:lstStyle/>
                    <a:p>
                      <a:pPr marL="0" marR="0">
                        <a:lnSpc>
                          <a:spcPct val="115000"/>
                        </a:lnSpc>
                        <a:spcBef>
                          <a:spcPts val="0"/>
                        </a:spcBef>
                        <a:spcAft>
                          <a:spcPts val="0"/>
                        </a:spcAft>
                      </a:pPr>
                      <a:r>
                        <a:rPr lang="en-US" sz="2800">
                          <a:effectLst/>
                        </a:rPr>
                        <a:t>1</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Hansen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Ola</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Timoteivn 10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Sandnes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36132">
                <a:tc>
                  <a:txBody>
                    <a:bodyPr/>
                    <a:lstStyle/>
                    <a:p>
                      <a:pPr marL="0" marR="0">
                        <a:lnSpc>
                          <a:spcPct val="115000"/>
                        </a:lnSpc>
                        <a:spcBef>
                          <a:spcPts val="0"/>
                        </a:spcBef>
                        <a:spcAft>
                          <a:spcPts val="0"/>
                        </a:spcAft>
                      </a:pPr>
                      <a:r>
                        <a:rPr lang="en-US" sz="2800">
                          <a:effectLst/>
                        </a:rPr>
                        <a:t>2</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Svendson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Tove</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Borgvn 23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Sandnes</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36132">
                <a:tc>
                  <a:txBody>
                    <a:bodyPr/>
                    <a:lstStyle/>
                    <a:p>
                      <a:pPr marL="0" marR="0">
                        <a:lnSpc>
                          <a:spcPct val="115000"/>
                        </a:lnSpc>
                        <a:spcBef>
                          <a:spcPts val="0"/>
                        </a:spcBef>
                        <a:spcAft>
                          <a:spcPts val="0"/>
                        </a:spcAft>
                      </a:pPr>
                      <a:r>
                        <a:rPr lang="en-US" sz="2800">
                          <a:effectLst/>
                        </a:rPr>
                        <a:t>3</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Pettersen</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Kari</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a:effectLst/>
                        </a:rPr>
                        <a:t>Storgt 20</a:t>
                      </a:r>
                      <a:endParaRPr lang="en-US" sz="28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800" dirty="0">
                          <a:effectLst/>
                        </a:rPr>
                        <a:t>Stavanger</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736132">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384747667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309093"/>
            <a:ext cx="8596668" cy="6284890"/>
          </a:xfrm>
        </p:spPr>
        <p:txBody>
          <a:bodyPr>
            <a:normAutofit fontScale="92500" lnSpcReduction="10000"/>
          </a:bodyPr>
          <a:lstStyle/>
          <a:p>
            <a:r>
              <a:rPr lang="en-US" sz="2800" dirty="0"/>
              <a:t>Next, we have the "Orders" table</a:t>
            </a:r>
            <a:r>
              <a:rPr lang="en-US" sz="2800" dirty="0" smtClean="0"/>
              <a:t>:</a:t>
            </a:r>
          </a:p>
          <a:p>
            <a:endParaRPr lang="en-US" sz="2800" dirty="0"/>
          </a:p>
          <a:p>
            <a:endParaRPr lang="en-US" sz="2800" dirty="0" smtClean="0"/>
          </a:p>
          <a:p>
            <a:endParaRPr lang="en-US" sz="2800" dirty="0"/>
          </a:p>
          <a:p>
            <a:endParaRPr lang="en-US" sz="2800" dirty="0" smtClean="0"/>
          </a:p>
          <a:p>
            <a:endParaRPr lang="en-US" sz="2800" dirty="0"/>
          </a:p>
          <a:p>
            <a:endParaRPr lang="en-US" sz="2800" dirty="0" smtClean="0"/>
          </a:p>
          <a:p>
            <a:endParaRPr lang="en-US" sz="2800" dirty="0"/>
          </a:p>
          <a:p>
            <a:r>
              <a:rPr lang="en-US" sz="2800" dirty="0"/>
              <a:t>Note that the "</a:t>
            </a:r>
            <a:r>
              <a:rPr lang="en-US" sz="2800" dirty="0" err="1"/>
              <a:t>O_Id</a:t>
            </a:r>
            <a:r>
              <a:rPr lang="en-US" sz="2800" dirty="0"/>
              <a:t>" column is the primary key in the "Orders" table and that the "</a:t>
            </a:r>
            <a:r>
              <a:rPr lang="en-US" sz="2800" dirty="0" err="1"/>
              <a:t>P_Id</a:t>
            </a:r>
            <a:r>
              <a:rPr lang="en-US" sz="2800" dirty="0"/>
              <a:t>" column refers to the persons in the "Persons" table without using their names.</a:t>
            </a:r>
          </a:p>
          <a:p>
            <a:r>
              <a:rPr lang="en-US" sz="2800" dirty="0"/>
              <a:t>Notice that the relationship between the two tables above is the "</a:t>
            </a:r>
            <a:r>
              <a:rPr lang="en-US" sz="2800" dirty="0" err="1"/>
              <a:t>P_Id</a:t>
            </a:r>
            <a:r>
              <a:rPr lang="en-US" sz="2800" dirty="0"/>
              <a:t>" column.</a:t>
            </a:r>
          </a:p>
          <a:p>
            <a:endParaRPr lang="en-US" sz="2800" dirty="0"/>
          </a:p>
          <a:p>
            <a:endParaRPr lang="en-US" dirty="0"/>
          </a:p>
        </p:txBody>
      </p:sp>
      <p:graphicFrame>
        <p:nvGraphicFramePr>
          <p:cNvPr id="4" name="Table 3"/>
          <p:cNvGraphicFramePr>
            <a:graphicFrameLocks noGrp="1"/>
          </p:cNvGraphicFramePr>
          <p:nvPr>
            <p:extLst>
              <p:ext uri="{D42A27DB-BD31-4B8C-83A1-F6EECF244321}">
                <p14:modId xmlns:p14="http://schemas.microsoft.com/office/powerpoint/2010/main" val="2528381355"/>
              </p:ext>
            </p:extLst>
          </p:nvPr>
        </p:nvGraphicFramePr>
        <p:xfrm>
          <a:off x="367077" y="799870"/>
          <a:ext cx="8557982" cy="3264030"/>
        </p:xfrm>
        <a:graphic>
          <a:graphicData uri="http://schemas.openxmlformats.org/drawingml/2006/table">
            <a:tbl>
              <a:tblPr firstRow="1" firstCol="1" bandRow="1">
                <a:tableStyleId>{5C22544A-7EE6-4342-B048-85BDC9FD1C3A}</a:tableStyleId>
              </a:tblPr>
              <a:tblGrid>
                <a:gridCol w="2567394"/>
                <a:gridCol w="3423194"/>
                <a:gridCol w="2567394"/>
              </a:tblGrid>
              <a:tr h="542829">
                <a:tc>
                  <a:txBody>
                    <a:bodyPr/>
                    <a:lstStyle/>
                    <a:p>
                      <a:pPr marL="0" marR="0">
                        <a:lnSpc>
                          <a:spcPct val="115000"/>
                        </a:lnSpc>
                        <a:spcBef>
                          <a:spcPts val="0"/>
                        </a:spcBef>
                        <a:spcAft>
                          <a:spcPts val="0"/>
                        </a:spcAft>
                      </a:pPr>
                      <a:r>
                        <a:rPr lang="en-US" sz="3200" dirty="0" err="1">
                          <a:effectLst/>
                        </a:rPr>
                        <a:t>O_Id</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OrderNo</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P_Id</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42829">
                <a:tc>
                  <a:txBody>
                    <a:bodyPr/>
                    <a:lstStyle/>
                    <a:p>
                      <a:pPr marL="0" marR="0">
                        <a:lnSpc>
                          <a:spcPct val="115000"/>
                        </a:lnSpc>
                        <a:spcBef>
                          <a:spcPts val="0"/>
                        </a:spcBef>
                        <a:spcAft>
                          <a:spcPts val="0"/>
                        </a:spcAft>
                      </a:pPr>
                      <a:r>
                        <a:rPr lang="en-US" sz="3200">
                          <a:effectLst/>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77895</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42829">
                <a:tc>
                  <a:txBody>
                    <a:bodyPr/>
                    <a:lstStyle/>
                    <a:p>
                      <a:pPr marL="0" marR="0">
                        <a:lnSpc>
                          <a:spcPct val="115000"/>
                        </a:lnSpc>
                        <a:spcBef>
                          <a:spcPts val="0"/>
                        </a:spcBef>
                        <a:spcAft>
                          <a:spcPts val="0"/>
                        </a:spcAft>
                      </a:pPr>
                      <a:r>
                        <a:rPr lang="en-US" sz="3200">
                          <a:effectLst/>
                        </a:rPr>
                        <a:t>2</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44678</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42829">
                <a:tc>
                  <a:txBody>
                    <a:bodyPr/>
                    <a:lstStyle/>
                    <a:p>
                      <a:pPr marL="0" marR="0">
                        <a:lnSpc>
                          <a:spcPct val="115000"/>
                        </a:lnSpc>
                        <a:spcBef>
                          <a:spcPts val="0"/>
                        </a:spcBef>
                        <a:spcAft>
                          <a:spcPts val="0"/>
                        </a:spcAft>
                      </a:pPr>
                      <a:r>
                        <a:rPr lang="en-US" sz="3200">
                          <a:effectLst/>
                        </a:rPr>
                        <a:t>3</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22456</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42829">
                <a:tc>
                  <a:txBody>
                    <a:bodyPr/>
                    <a:lstStyle/>
                    <a:p>
                      <a:pPr marL="0" marR="0">
                        <a:lnSpc>
                          <a:spcPct val="115000"/>
                        </a:lnSpc>
                        <a:spcBef>
                          <a:spcPts val="0"/>
                        </a:spcBef>
                        <a:spcAft>
                          <a:spcPts val="0"/>
                        </a:spcAft>
                      </a:pPr>
                      <a:r>
                        <a:rPr lang="en-US" sz="3200">
                          <a:effectLst/>
                        </a:rPr>
                        <a:t>4</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24562</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1</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542829">
                <a:tc>
                  <a:txBody>
                    <a:bodyPr/>
                    <a:lstStyle/>
                    <a:p>
                      <a:pPr marL="0" marR="0">
                        <a:lnSpc>
                          <a:spcPct val="115000"/>
                        </a:lnSpc>
                        <a:spcBef>
                          <a:spcPts val="0"/>
                        </a:spcBef>
                        <a:spcAft>
                          <a:spcPts val="0"/>
                        </a:spcAft>
                      </a:pPr>
                      <a:r>
                        <a:rPr lang="en-US" sz="3200">
                          <a:effectLst/>
                        </a:rPr>
                        <a:t>5</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a:effectLst/>
                        </a:rPr>
                        <a:t>34764</a:t>
                      </a:r>
                      <a:endParaRPr lang="en-US" sz="32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3200" dirty="0">
                          <a:effectLst/>
                        </a:rPr>
                        <a:t>15</a:t>
                      </a:r>
                      <a:endParaRPr lang="en-US" sz="32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31323561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42682"/>
          </a:xfrm>
        </p:spPr>
        <p:txBody>
          <a:bodyPr>
            <a:normAutofit fontScale="90000"/>
          </a:bodyPr>
          <a:lstStyle/>
          <a:p>
            <a:r>
              <a:rPr lang="en-US" b="1" dirty="0"/>
              <a:t>Different SQL JOINs</a:t>
            </a:r>
            <a:br>
              <a:rPr lang="en-US" b="1" dirty="0"/>
            </a:br>
            <a:endParaRPr lang="en-US" dirty="0"/>
          </a:p>
        </p:txBody>
      </p:sp>
      <p:sp>
        <p:nvSpPr>
          <p:cNvPr id="3" name="Content Placeholder 2"/>
          <p:cNvSpPr>
            <a:spLocks noGrp="1"/>
          </p:cNvSpPr>
          <p:nvPr>
            <p:ph idx="1"/>
          </p:nvPr>
        </p:nvSpPr>
        <p:spPr>
          <a:xfrm>
            <a:off x="677334" y="1236372"/>
            <a:ext cx="8596668" cy="5306095"/>
          </a:xfrm>
        </p:spPr>
        <p:txBody>
          <a:bodyPr>
            <a:normAutofit lnSpcReduction="10000"/>
          </a:bodyPr>
          <a:lstStyle/>
          <a:p>
            <a:r>
              <a:rPr lang="en-US" sz="3200" dirty="0"/>
              <a:t>JOIN: Return rows when there is at least one match in both tables</a:t>
            </a:r>
          </a:p>
          <a:p>
            <a:r>
              <a:rPr lang="en-US" sz="3200" dirty="0"/>
              <a:t>LEFT JOIN: Return all rows from the left table, even if there are no matches in the right table</a:t>
            </a:r>
          </a:p>
          <a:p>
            <a:r>
              <a:rPr lang="en-US" sz="3200" dirty="0"/>
              <a:t>RIGHT JOIN: Return all rows from the right table, even if there are no matches in the left table</a:t>
            </a:r>
          </a:p>
          <a:p>
            <a:r>
              <a:rPr lang="en-US" sz="3200" dirty="0"/>
              <a:t>FULL JOIN: Return rows when there is a match in one of the tables</a:t>
            </a:r>
          </a:p>
          <a:p>
            <a:pPr marL="0" indent="0">
              <a:buNone/>
            </a:pPr>
            <a:endParaRPr lang="en-US" sz="3200" dirty="0"/>
          </a:p>
          <a:p>
            <a:endParaRPr lang="en-US" dirty="0"/>
          </a:p>
        </p:txBody>
      </p:sp>
    </p:spTree>
    <p:extLst>
      <p:ext uri="{BB962C8B-B14F-4D97-AF65-F5344CB8AC3E}">
        <p14:creationId xmlns:p14="http://schemas.microsoft.com/office/powerpoint/2010/main" val="41358526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562377"/>
          </a:xfrm>
        </p:spPr>
        <p:txBody>
          <a:bodyPr>
            <a:normAutofit fontScale="90000"/>
          </a:bodyPr>
          <a:lstStyle/>
          <a:p>
            <a:r>
              <a:rPr lang="en-US" dirty="0" smtClean="0"/>
              <a:t>INNER JOIN</a:t>
            </a:r>
            <a:endParaRPr lang="en-US" dirty="0"/>
          </a:p>
        </p:txBody>
      </p:sp>
      <p:sp>
        <p:nvSpPr>
          <p:cNvPr id="3" name="Content Placeholder 2"/>
          <p:cNvSpPr>
            <a:spLocks noGrp="1"/>
          </p:cNvSpPr>
          <p:nvPr>
            <p:ph idx="1"/>
          </p:nvPr>
        </p:nvSpPr>
        <p:spPr>
          <a:xfrm>
            <a:off x="677334" y="1171977"/>
            <a:ext cx="8596668" cy="4869385"/>
          </a:xfrm>
        </p:spPr>
        <p:txBody>
          <a:bodyPr/>
          <a:lstStyle/>
          <a:p>
            <a:r>
              <a:rPr lang="en-US" sz="2800" dirty="0"/>
              <a:t>The INNER JOIN keyword returns rows when there is at least one match in both tables.</a:t>
            </a:r>
          </a:p>
          <a:p>
            <a:r>
              <a:rPr lang="en-US" sz="2800" b="1" dirty="0"/>
              <a:t>SQL INNER JOIN Syntax</a:t>
            </a:r>
          </a:p>
          <a:p>
            <a:r>
              <a:rPr lang="en-US" sz="2800" dirty="0">
                <a:latin typeface="Courier New" panose="02070309020205020404" pitchFamily="49" charset="0"/>
                <a:cs typeface="Courier New" panose="02070309020205020404" pitchFamily="49" charset="0"/>
              </a:rPr>
              <a:t>SELECT </a:t>
            </a:r>
            <a:r>
              <a:rPr lang="en-US" sz="2800" dirty="0" err="1">
                <a:latin typeface="Courier New" panose="02070309020205020404" pitchFamily="49" charset="0"/>
                <a:cs typeface="Courier New" panose="02070309020205020404" pitchFamily="49" charset="0"/>
              </a:rPr>
              <a:t>column_name</a:t>
            </a:r>
            <a:r>
              <a:rPr lang="en-US" sz="2800" dirty="0">
                <a:latin typeface="Courier New" panose="02070309020205020404" pitchFamily="49" charset="0"/>
                <a:cs typeface="Courier New" panose="02070309020205020404" pitchFamily="49" charset="0"/>
              </a:rPr>
              <a:t>(s)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FROM table_name1</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INNER JOIN table_name2</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ON table_name1.column_name=table_name2.column_name</a:t>
            </a:r>
          </a:p>
          <a:p>
            <a:r>
              <a:rPr lang="en-US" sz="2800" b="1" dirty="0"/>
              <a:t>PS:</a:t>
            </a:r>
            <a:r>
              <a:rPr lang="en-US" sz="2800" dirty="0"/>
              <a:t> INNER JOIN is the same as JOIN.</a:t>
            </a:r>
          </a:p>
          <a:p>
            <a:endParaRPr lang="en-US" dirty="0"/>
          </a:p>
        </p:txBody>
      </p:sp>
    </p:spTree>
    <p:extLst>
      <p:ext uri="{BB962C8B-B14F-4D97-AF65-F5344CB8AC3E}">
        <p14:creationId xmlns:p14="http://schemas.microsoft.com/office/powerpoint/2010/main" val="4208235089"/>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9651"/>
          </a:xfrm>
        </p:spPr>
        <p:txBody>
          <a:bodyPr>
            <a:normAutofit fontScale="90000"/>
          </a:bodyPr>
          <a:lstStyle/>
          <a:p>
            <a:r>
              <a:rPr lang="en-US" dirty="0" smtClean="0"/>
              <a:t>Inner Join contd.</a:t>
            </a:r>
            <a:endParaRPr lang="en-US" dirty="0"/>
          </a:p>
        </p:txBody>
      </p:sp>
      <p:sp>
        <p:nvSpPr>
          <p:cNvPr id="3" name="Content Placeholder 2"/>
          <p:cNvSpPr>
            <a:spLocks noGrp="1"/>
          </p:cNvSpPr>
          <p:nvPr>
            <p:ph idx="1"/>
          </p:nvPr>
        </p:nvSpPr>
        <p:spPr>
          <a:xfrm>
            <a:off x="677334" y="1249252"/>
            <a:ext cx="8596668" cy="5215942"/>
          </a:xfrm>
        </p:spPr>
        <p:txBody>
          <a:bodyPr/>
          <a:lstStyle/>
          <a:p>
            <a:r>
              <a:rPr lang="en-US" dirty="0"/>
              <a:t>The "Persons" table</a:t>
            </a:r>
            <a:r>
              <a:rPr lang="en-US" dirty="0" smtClean="0"/>
              <a:t>:</a:t>
            </a:r>
          </a:p>
          <a:p>
            <a:endParaRPr lang="en-US" dirty="0"/>
          </a:p>
          <a:p>
            <a:endParaRPr lang="en-US" dirty="0" smtClean="0"/>
          </a:p>
          <a:p>
            <a:endParaRPr lang="en-US" dirty="0"/>
          </a:p>
          <a:p>
            <a:endParaRPr lang="en-US" dirty="0" smtClean="0"/>
          </a:p>
          <a:p>
            <a:endParaRPr lang="en-US" dirty="0"/>
          </a:p>
          <a:p>
            <a:r>
              <a:rPr lang="en-US" dirty="0"/>
              <a:t>The "Orders" table:</a:t>
            </a:r>
          </a:p>
          <a:p>
            <a:endParaRPr lang="en-US" dirty="0"/>
          </a:p>
          <a:p>
            <a:endParaRPr lang="en-US" dirty="0"/>
          </a:p>
        </p:txBody>
      </p:sp>
      <p:graphicFrame>
        <p:nvGraphicFramePr>
          <p:cNvPr id="7" name="Table 6"/>
          <p:cNvGraphicFramePr>
            <a:graphicFrameLocks noGrp="1"/>
          </p:cNvGraphicFramePr>
          <p:nvPr>
            <p:extLst>
              <p:ext uri="{D42A27DB-BD31-4B8C-83A1-F6EECF244321}">
                <p14:modId xmlns:p14="http://schemas.microsoft.com/office/powerpoint/2010/main" val="275043113"/>
              </p:ext>
            </p:extLst>
          </p:nvPr>
        </p:nvGraphicFramePr>
        <p:xfrm>
          <a:off x="291498" y="1730037"/>
          <a:ext cx="8982505" cy="1704587"/>
        </p:xfrm>
        <a:graphic>
          <a:graphicData uri="http://schemas.openxmlformats.org/drawingml/2006/table">
            <a:tbl>
              <a:tblPr firstRow="1" firstCol="1" bandRow="1">
                <a:tableStyleId>{5C22544A-7EE6-4342-B048-85BDC9FD1C3A}</a:tableStyleId>
              </a:tblPr>
              <a:tblGrid>
                <a:gridCol w="1796501"/>
                <a:gridCol w="1796501"/>
                <a:gridCol w="1796501"/>
                <a:gridCol w="1796501"/>
                <a:gridCol w="1796501"/>
              </a:tblGrid>
              <a:tr h="315967">
                <a:tc>
                  <a:txBody>
                    <a:bodyPr/>
                    <a:lstStyle/>
                    <a:p>
                      <a:pPr marL="0" marR="0">
                        <a:lnSpc>
                          <a:spcPct val="115000"/>
                        </a:lnSpc>
                        <a:spcBef>
                          <a:spcPts val="0"/>
                        </a:spcBef>
                        <a:spcAft>
                          <a:spcPts val="0"/>
                        </a:spcAft>
                      </a:pPr>
                      <a:r>
                        <a:rPr lang="en-US" sz="2000">
                          <a:effectLst/>
                        </a:rPr>
                        <a:t>P_Id</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LastName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FirstName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Address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City</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15967">
                <a:tc>
                  <a:txBody>
                    <a:bodyPr/>
                    <a:lstStyle/>
                    <a:p>
                      <a:pPr marL="0" marR="0">
                        <a:lnSpc>
                          <a:spcPct val="115000"/>
                        </a:lnSpc>
                        <a:spcBef>
                          <a:spcPts val="0"/>
                        </a:spcBef>
                        <a:spcAft>
                          <a:spcPts val="0"/>
                        </a:spcAft>
                      </a:pPr>
                      <a:r>
                        <a:rPr lang="en-US" sz="2000">
                          <a:effectLst/>
                        </a:rPr>
                        <a:t>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Hansen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Ola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Timoteivn 10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Sandnes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15967">
                <a:tc>
                  <a:txBody>
                    <a:bodyPr/>
                    <a:lstStyle/>
                    <a:p>
                      <a:pPr marL="0" marR="0">
                        <a:lnSpc>
                          <a:spcPct val="115000"/>
                        </a:lnSpc>
                        <a:spcBef>
                          <a:spcPts val="0"/>
                        </a:spcBef>
                        <a:spcAft>
                          <a:spcPts val="0"/>
                        </a:spcAft>
                      </a:pPr>
                      <a:r>
                        <a:rPr lang="en-US" sz="2000">
                          <a:effectLst/>
                        </a:rPr>
                        <a:t>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Svendson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Tove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Borgvn 23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Sandnes</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15967">
                <a:tc>
                  <a:txBody>
                    <a:bodyPr/>
                    <a:lstStyle/>
                    <a:p>
                      <a:pPr marL="0" marR="0">
                        <a:lnSpc>
                          <a:spcPct val="115000"/>
                        </a:lnSpc>
                        <a:spcBef>
                          <a:spcPts val="0"/>
                        </a:spcBef>
                        <a:spcAft>
                          <a:spcPts val="0"/>
                        </a:spcAft>
                      </a:pPr>
                      <a:r>
                        <a:rPr lang="en-US" sz="2000">
                          <a:effectLst/>
                        </a:rPr>
                        <a:t>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Pettersen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Kari</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Storgt 20</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dirty="0">
                          <a:effectLst/>
                        </a:rPr>
                        <a:t>Stavanger</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15967">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graphicFrame>
        <p:nvGraphicFramePr>
          <p:cNvPr id="8" name="Table 7"/>
          <p:cNvGraphicFramePr>
            <a:graphicFrameLocks noGrp="1"/>
          </p:cNvGraphicFramePr>
          <p:nvPr>
            <p:extLst>
              <p:ext uri="{D42A27DB-BD31-4B8C-83A1-F6EECF244321}">
                <p14:modId xmlns:p14="http://schemas.microsoft.com/office/powerpoint/2010/main" val="1023373099"/>
              </p:ext>
            </p:extLst>
          </p:nvPr>
        </p:nvGraphicFramePr>
        <p:xfrm>
          <a:off x="470109" y="4135499"/>
          <a:ext cx="6626151" cy="2082930"/>
        </p:xfrm>
        <a:graphic>
          <a:graphicData uri="http://schemas.openxmlformats.org/drawingml/2006/table">
            <a:tbl>
              <a:tblPr firstRow="1" firstCol="1" bandRow="1">
                <a:tableStyleId>{5C22544A-7EE6-4342-B048-85BDC9FD1C3A}</a:tableStyleId>
              </a:tblPr>
              <a:tblGrid>
                <a:gridCol w="1987845"/>
                <a:gridCol w="2650461"/>
                <a:gridCol w="1987845"/>
              </a:tblGrid>
              <a:tr h="332474">
                <a:tc>
                  <a:txBody>
                    <a:bodyPr/>
                    <a:lstStyle/>
                    <a:p>
                      <a:pPr marL="0" marR="0">
                        <a:lnSpc>
                          <a:spcPct val="115000"/>
                        </a:lnSpc>
                        <a:spcBef>
                          <a:spcPts val="0"/>
                        </a:spcBef>
                        <a:spcAft>
                          <a:spcPts val="0"/>
                        </a:spcAft>
                      </a:pPr>
                      <a:r>
                        <a:rPr lang="en-US" sz="2000">
                          <a:effectLst/>
                        </a:rPr>
                        <a:t>O_Id</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OrderNo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P_Id</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32474">
                <a:tc>
                  <a:txBody>
                    <a:bodyPr/>
                    <a:lstStyle/>
                    <a:p>
                      <a:pPr marL="0" marR="0">
                        <a:lnSpc>
                          <a:spcPct val="115000"/>
                        </a:lnSpc>
                        <a:spcBef>
                          <a:spcPts val="0"/>
                        </a:spcBef>
                        <a:spcAft>
                          <a:spcPts val="0"/>
                        </a:spcAft>
                      </a:pPr>
                      <a:r>
                        <a:rPr lang="en-US" sz="2000">
                          <a:effectLst/>
                        </a:rPr>
                        <a:t>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77895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32474">
                <a:tc>
                  <a:txBody>
                    <a:bodyPr/>
                    <a:lstStyle/>
                    <a:p>
                      <a:pPr marL="0" marR="0">
                        <a:lnSpc>
                          <a:spcPct val="115000"/>
                        </a:lnSpc>
                        <a:spcBef>
                          <a:spcPts val="0"/>
                        </a:spcBef>
                        <a:spcAft>
                          <a:spcPts val="0"/>
                        </a:spcAft>
                      </a:pPr>
                      <a:r>
                        <a:rPr lang="en-US" sz="2000">
                          <a:effectLst/>
                        </a:rPr>
                        <a:t>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44678</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32474">
                <a:tc>
                  <a:txBody>
                    <a:bodyPr/>
                    <a:lstStyle/>
                    <a:p>
                      <a:pPr marL="0" marR="0">
                        <a:lnSpc>
                          <a:spcPct val="115000"/>
                        </a:lnSpc>
                        <a:spcBef>
                          <a:spcPts val="0"/>
                        </a:spcBef>
                        <a:spcAft>
                          <a:spcPts val="0"/>
                        </a:spcAft>
                      </a:pPr>
                      <a:r>
                        <a:rPr lang="en-US" sz="2000">
                          <a:effectLst/>
                        </a:rPr>
                        <a:t>3</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22456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32474">
                <a:tc>
                  <a:txBody>
                    <a:bodyPr/>
                    <a:lstStyle/>
                    <a:p>
                      <a:pPr marL="0" marR="0">
                        <a:lnSpc>
                          <a:spcPct val="115000"/>
                        </a:lnSpc>
                        <a:spcBef>
                          <a:spcPts val="0"/>
                        </a:spcBef>
                        <a:spcAft>
                          <a:spcPts val="0"/>
                        </a:spcAft>
                      </a:pPr>
                      <a:r>
                        <a:rPr lang="en-US" sz="2000">
                          <a:effectLst/>
                        </a:rPr>
                        <a:t>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24562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1</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32474">
                <a:tc>
                  <a:txBody>
                    <a:bodyPr/>
                    <a:lstStyle/>
                    <a:p>
                      <a:pPr marL="0" marR="0">
                        <a:lnSpc>
                          <a:spcPct val="115000"/>
                        </a:lnSpc>
                        <a:spcBef>
                          <a:spcPts val="0"/>
                        </a:spcBef>
                        <a:spcAft>
                          <a:spcPts val="0"/>
                        </a:spcAft>
                      </a:pPr>
                      <a:r>
                        <a:rPr lang="en-US" sz="2000">
                          <a:effectLst/>
                        </a:rPr>
                        <a:t>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34764</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dirty="0">
                          <a:effectLst/>
                        </a:rPr>
                        <a:t>15</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Tree>
    <p:extLst>
      <p:ext uri="{BB962C8B-B14F-4D97-AF65-F5344CB8AC3E}">
        <p14:creationId xmlns:p14="http://schemas.microsoft.com/office/powerpoint/2010/main" val="48643417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13893"/>
          </a:xfrm>
        </p:spPr>
        <p:txBody>
          <a:bodyPr>
            <a:normAutofit fontScale="90000"/>
          </a:bodyPr>
          <a:lstStyle/>
          <a:p>
            <a:r>
              <a:rPr lang="en-US" dirty="0" smtClean="0"/>
              <a:t>Inner join contd.</a:t>
            </a:r>
            <a:endParaRPr lang="en-US" dirty="0"/>
          </a:p>
        </p:txBody>
      </p:sp>
      <p:sp>
        <p:nvSpPr>
          <p:cNvPr id="3" name="Content Placeholder 2"/>
          <p:cNvSpPr>
            <a:spLocks noGrp="1"/>
          </p:cNvSpPr>
          <p:nvPr>
            <p:ph idx="1"/>
          </p:nvPr>
        </p:nvSpPr>
        <p:spPr>
          <a:xfrm>
            <a:off x="677334" y="1223493"/>
            <a:ext cx="8596668" cy="5370490"/>
          </a:xfrm>
        </p:spPr>
        <p:txBody>
          <a:bodyPr/>
          <a:lstStyle/>
          <a:p>
            <a:r>
              <a:rPr lang="en-US" sz="3200" dirty="0"/>
              <a:t>Now we want to list all the persons with any orders.</a:t>
            </a:r>
          </a:p>
          <a:p>
            <a:r>
              <a:rPr lang="en-US" sz="3200" dirty="0"/>
              <a:t>We use the following SELECT statement:</a:t>
            </a:r>
          </a:p>
          <a:p>
            <a:r>
              <a:rPr lang="en-US" sz="3200" dirty="0">
                <a:latin typeface="Courier New" panose="02070309020205020404" pitchFamily="49" charset="0"/>
                <a:cs typeface="Courier New" panose="02070309020205020404" pitchFamily="49" charset="0"/>
              </a:rPr>
              <a:t>SELECT </a:t>
            </a:r>
            <a:r>
              <a:rPr lang="en-US" sz="3200" dirty="0" err="1">
                <a:latin typeface="Courier New" panose="02070309020205020404" pitchFamily="49" charset="0"/>
                <a:cs typeface="Courier New" panose="02070309020205020404" pitchFamily="49" charset="0"/>
              </a:rPr>
              <a:t>Persons.LastName</a:t>
            </a:r>
            <a:r>
              <a:rPr lang="en-US" sz="3200" dirty="0">
                <a:latin typeface="Courier New" panose="02070309020205020404" pitchFamily="49" charset="0"/>
                <a:cs typeface="Courier New" panose="02070309020205020404" pitchFamily="49" charset="0"/>
              </a:rPr>
              <a:t>, </a:t>
            </a:r>
            <a:r>
              <a:rPr lang="en-US" sz="3200" dirty="0" err="1">
                <a:latin typeface="Courier New" panose="02070309020205020404" pitchFamily="49" charset="0"/>
                <a:cs typeface="Courier New" panose="02070309020205020404" pitchFamily="49" charset="0"/>
              </a:rPr>
              <a:t>Persons.FirstName</a:t>
            </a:r>
            <a:r>
              <a:rPr lang="en-US" sz="3200" dirty="0">
                <a:latin typeface="Courier New" panose="02070309020205020404" pitchFamily="49" charset="0"/>
                <a:cs typeface="Courier New" panose="02070309020205020404" pitchFamily="49" charset="0"/>
              </a:rPr>
              <a:t>, </a:t>
            </a:r>
            <a:r>
              <a:rPr lang="en-US" sz="3200" dirty="0" err="1">
                <a:latin typeface="Courier New" panose="02070309020205020404" pitchFamily="49" charset="0"/>
                <a:cs typeface="Courier New" panose="02070309020205020404" pitchFamily="49" charset="0"/>
              </a:rPr>
              <a:t>Orders.OrderNo</a:t>
            </a:r>
            <a:r>
              <a:rPr lang="en-US" sz="3200" dirty="0">
                <a:latin typeface="Courier New" panose="02070309020205020404" pitchFamily="49" charset="0"/>
                <a:cs typeface="Courier New" panose="02070309020205020404" pitchFamily="49" charset="0"/>
              </a:rPr>
              <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FROM Persons</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INNER JOIN Orders</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ON </a:t>
            </a:r>
            <a:r>
              <a:rPr lang="en-US" sz="3200" dirty="0" err="1">
                <a:latin typeface="Courier New" panose="02070309020205020404" pitchFamily="49" charset="0"/>
                <a:cs typeface="Courier New" panose="02070309020205020404" pitchFamily="49" charset="0"/>
              </a:rPr>
              <a:t>Persons.P_Id</a:t>
            </a:r>
            <a:r>
              <a:rPr lang="en-US" sz="3200" dirty="0">
                <a:latin typeface="Courier New" panose="02070309020205020404" pitchFamily="49" charset="0"/>
                <a:cs typeface="Courier New" panose="02070309020205020404" pitchFamily="49" charset="0"/>
              </a:rPr>
              <a:t>=</a:t>
            </a:r>
            <a:r>
              <a:rPr lang="en-US" sz="3200" dirty="0" err="1">
                <a:latin typeface="Courier New" panose="02070309020205020404" pitchFamily="49" charset="0"/>
                <a:cs typeface="Courier New" panose="02070309020205020404" pitchFamily="49" charset="0"/>
              </a:rPr>
              <a:t>Orders.P_Id</a:t>
            </a:r>
            <a:r>
              <a:rPr lang="en-US" sz="3200" dirty="0">
                <a:latin typeface="Courier New" panose="02070309020205020404" pitchFamily="49" charset="0"/>
                <a:cs typeface="Courier New" panose="02070309020205020404" pitchFamily="49" charset="0"/>
              </a:rPr>
              <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ORDER BY </a:t>
            </a:r>
            <a:r>
              <a:rPr lang="en-US" sz="3200" dirty="0" err="1">
                <a:latin typeface="Courier New" panose="02070309020205020404" pitchFamily="49" charset="0"/>
                <a:cs typeface="Courier New" panose="02070309020205020404" pitchFamily="49" charset="0"/>
              </a:rPr>
              <a:t>Persons.LastName</a:t>
            </a:r>
            <a:endParaRPr lang="en-US" sz="3200" dirty="0">
              <a:latin typeface="Courier New" panose="02070309020205020404" pitchFamily="49" charset="0"/>
              <a:cs typeface="Courier New" panose="02070309020205020404" pitchFamily="49" charset="0"/>
            </a:endParaRPr>
          </a:p>
          <a:p>
            <a:r>
              <a:rPr lang="en-US" sz="3200" dirty="0"/>
              <a:t>The result-set will look like this:</a:t>
            </a:r>
          </a:p>
          <a:p>
            <a:endParaRPr lang="en-US" dirty="0"/>
          </a:p>
        </p:txBody>
      </p:sp>
    </p:spTree>
    <p:extLst>
      <p:ext uri="{BB962C8B-B14F-4D97-AF65-F5344CB8AC3E}">
        <p14:creationId xmlns:p14="http://schemas.microsoft.com/office/powerpoint/2010/main" val="177299540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39651"/>
          </a:xfrm>
        </p:spPr>
        <p:txBody>
          <a:bodyPr>
            <a:normAutofit fontScale="90000"/>
          </a:bodyPr>
          <a:lstStyle/>
          <a:p>
            <a:r>
              <a:rPr lang="en-US" dirty="0" smtClean="0"/>
              <a:t>Inner Join</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1758462254"/>
              </p:ext>
            </p:extLst>
          </p:nvPr>
        </p:nvGraphicFramePr>
        <p:xfrm>
          <a:off x="394528" y="1485641"/>
          <a:ext cx="8879475" cy="1772715"/>
        </p:xfrm>
        <a:graphic>
          <a:graphicData uri="http://schemas.openxmlformats.org/drawingml/2006/table">
            <a:tbl>
              <a:tblPr firstRow="1" firstCol="1" bandRow="1">
                <a:tableStyleId>{5C22544A-7EE6-4342-B048-85BDC9FD1C3A}</a:tableStyleId>
              </a:tblPr>
              <a:tblGrid>
                <a:gridCol w="2959825"/>
                <a:gridCol w="2959825"/>
                <a:gridCol w="2959825"/>
              </a:tblGrid>
              <a:tr h="354543">
                <a:tc>
                  <a:txBody>
                    <a:bodyPr/>
                    <a:lstStyle/>
                    <a:p>
                      <a:pPr marL="0" marR="0">
                        <a:lnSpc>
                          <a:spcPct val="115000"/>
                        </a:lnSpc>
                        <a:spcBef>
                          <a:spcPts val="0"/>
                        </a:spcBef>
                        <a:spcAft>
                          <a:spcPts val="0"/>
                        </a:spcAft>
                      </a:pPr>
                      <a:r>
                        <a:rPr lang="en-US" sz="2000">
                          <a:effectLst/>
                        </a:rPr>
                        <a:t>LastName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FirstName</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OrderNo</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54543">
                <a:tc>
                  <a:txBody>
                    <a:bodyPr/>
                    <a:lstStyle/>
                    <a:p>
                      <a:pPr marL="0" marR="0">
                        <a:lnSpc>
                          <a:spcPct val="115000"/>
                        </a:lnSpc>
                        <a:spcBef>
                          <a:spcPts val="0"/>
                        </a:spcBef>
                        <a:spcAft>
                          <a:spcPts val="0"/>
                        </a:spcAft>
                      </a:pPr>
                      <a:r>
                        <a:rPr lang="en-US" sz="2000">
                          <a:effectLst/>
                        </a:rPr>
                        <a:t>Hansen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Ola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22456</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54543">
                <a:tc>
                  <a:txBody>
                    <a:bodyPr/>
                    <a:lstStyle/>
                    <a:p>
                      <a:pPr marL="0" marR="0">
                        <a:lnSpc>
                          <a:spcPct val="115000"/>
                        </a:lnSpc>
                        <a:spcBef>
                          <a:spcPts val="0"/>
                        </a:spcBef>
                        <a:spcAft>
                          <a:spcPts val="0"/>
                        </a:spcAft>
                      </a:pPr>
                      <a:r>
                        <a:rPr lang="en-US" sz="2000">
                          <a:effectLst/>
                        </a:rPr>
                        <a:t>Hansen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Ola</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24562</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54543">
                <a:tc>
                  <a:txBody>
                    <a:bodyPr/>
                    <a:lstStyle/>
                    <a:p>
                      <a:pPr marL="0" marR="0">
                        <a:lnSpc>
                          <a:spcPct val="115000"/>
                        </a:lnSpc>
                        <a:spcBef>
                          <a:spcPts val="0"/>
                        </a:spcBef>
                        <a:spcAft>
                          <a:spcPts val="0"/>
                        </a:spcAft>
                      </a:pPr>
                      <a:r>
                        <a:rPr lang="en-US" sz="2000">
                          <a:effectLst/>
                        </a:rPr>
                        <a:t>Pettersen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Kari</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77895</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54543">
                <a:tc>
                  <a:txBody>
                    <a:bodyPr/>
                    <a:lstStyle/>
                    <a:p>
                      <a:pPr marL="0" marR="0">
                        <a:lnSpc>
                          <a:spcPct val="115000"/>
                        </a:lnSpc>
                        <a:spcBef>
                          <a:spcPts val="0"/>
                        </a:spcBef>
                        <a:spcAft>
                          <a:spcPts val="0"/>
                        </a:spcAft>
                      </a:pPr>
                      <a:r>
                        <a:rPr lang="en-US" sz="2000">
                          <a:effectLst/>
                        </a:rPr>
                        <a:t>Pettersen</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a:effectLst/>
                        </a:rPr>
                        <a:t>Kari</a:t>
                      </a:r>
                      <a:endParaRPr lang="en-US" sz="20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000" dirty="0">
                          <a:effectLst/>
                        </a:rPr>
                        <a:t>44678</a:t>
                      </a:r>
                      <a:endParaRPr lang="en-US" sz="20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Rectangle 4"/>
          <p:cNvSpPr/>
          <p:nvPr/>
        </p:nvSpPr>
        <p:spPr>
          <a:xfrm>
            <a:off x="677334" y="3482490"/>
            <a:ext cx="8596668" cy="2862322"/>
          </a:xfrm>
          <a:prstGeom prst="rect">
            <a:avLst/>
          </a:prstGeom>
        </p:spPr>
        <p:txBody>
          <a:bodyPr wrap="square">
            <a:spAutoFit/>
          </a:bodyPr>
          <a:lstStyle/>
          <a:p>
            <a:r>
              <a:rPr lang="en-US" sz="3600" dirty="0">
                <a:latin typeface="Calibri" panose="020F0502020204030204" pitchFamily="34" charset="0"/>
                <a:ea typeface="Calibri" panose="020F0502020204030204" pitchFamily="34" charset="0"/>
                <a:cs typeface="Times New Roman" panose="02020603050405020304" pitchFamily="18" charset="0"/>
              </a:rPr>
              <a:t>The INNER JOIN keyword returns rows when there is at least one match in both tables. If there are rows in "Persons" that do not have matches in "Orders", those rows will NOT be listed.</a:t>
            </a:r>
            <a:endParaRPr lang="en-US" sz="3600" dirty="0"/>
          </a:p>
        </p:txBody>
      </p:sp>
    </p:spTree>
    <p:extLst>
      <p:ext uri="{BB962C8B-B14F-4D97-AF65-F5344CB8AC3E}">
        <p14:creationId xmlns:p14="http://schemas.microsoft.com/office/powerpoint/2010/main" val="358553266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299075"/>
            <a:ext cx="8596668" cy="756992"/>
          </a:xfrm>
        </p:spPr>
        <p:txBody>
          <a:bodyPr/>
          <a:lstStyle/>
          <a:p>
            <a:r>
              <a:rPr lang="en-US" dirty="0"/>
              <a:t>LEFT JOIN </a:t>
            </a:r>
            <a:endParaRPr lang="en-US" dirty="0"/>
          </a:p>
        </p:txBody>
      </p:sp>
      <p:sp>
        <p:nvSpPr>
          <p:cNvPr id="3" name="Content Placeholder 2"/>
          <p:cNvSpPr>
            <a:spLocks noGrp="1"/>
          </p:cNvSpPr>
          <p:nvPr>
            <p:ph idx="1"/>
          </p:nvPr>
        </p:nvSpPr>
        <p:spPr>
          <a:xfrm>
            <a:off x="677334" y="1056067"/>
            <a:ext cx="8596668" cy="4985295"/>
          </a:xfrm>
        </p:spPr>
        <p:txBody>
          <a:bodyPr>
            <a:normAutofit lnSpcReduction="10000"/>
          </a:bodyPr>
          <a:lstStyle/>
          <a:p>
            <a:r>
              <a:rPr lang="en-US" sz="2800" dirty="0"/>
              <a:t>Now we want to list all the persons and their orders - if any, from the tables above.</a:t>
            </a:r>
          </a:p>
          <a:p>
            <a:r>
              <a:rPr lang="en-US" sz="2800" dirty="0"/>
              <a:t>We use the following SELECT statement:</a:t>
            </a:r>
          </a:p>
          <a:p>
            <a:r>
              <a:rPr lang="en-US" sz="2800" dirty="0">
                <a:latin typeface="Courier New" panose="02070309020205020404" pitchFamily="49" charset="0"/>
                <a:cs typeface="Courier New" panose="02070309020205020404" pitchFamily="49" charset="0"/>
              </a:rPr>
              <a:t>SELECT </a:t>
            </a:r>
            <a:r>
              <a:rPr lang="en-US" sz="2800" dirty="0" err="1">
                <a:latin typeface="Courier New" panose="02070309020205020404" pitchFamily="49" charset="0"/>
                <a:cs typeface="Courier New" panose="02070309020205020404" pitchFamily="49" charset="0"/>
              </a:rPr>
              <a:t>Persons.LastName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Persons.FirstName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Orders.OrderNo</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FROM Persons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LEFT JOIN Orders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ON </a:t>
            </a:r>
            <a:r>
              <a:rPr lang="en-US" sz="2800" dirty="0" err="1">
                <a:latin typeface="Courier New" panose="02070309020205020404" pitchFamily="49" charset="0"/>
                <a:cs typeface="Courier New" panose="02070309020205020404" pitchFamily="49" charset="0"/>
              </a:rPr>
              <a:t>Persons.P_Id</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Orders.P_Id</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ORDER BY </a:t>
            </a:r>
            <a:r>
              <a:rPr lang="en-US" sz="2800" dirty="0" err="1">
                <a:latin typeface="Courier New" panose="02070309020205020404" pitchFamily="49" charset="0"/>
                <a:cs typeface="Courier New" panose="02070309020205020404" pitchFamily="49" charset="0"/>
              </a:rPr>
              <a:t>Persons.LastName</a:t>
            </a:r>
            <a:endParaRPr lang="en-US" sz="2800" dirty="0">
              <a:latin typeface="Courier New" panose="02070309020205020404" pitchFamily="49" charset="0"/>
              <a:cs typeface="Courier New" panose="02070309020205020404" pitchFamily="49" charset="0"/>
            </a:endParaRPr>
          </a:p>
          <a:p>
            <a:pPr marL="0" indent="0">
              <a:buNone/>
            </a:pPr>
            <a:endParaRPr lang="en-US" sz="2800" dirty="0"/>
          </a:p>
          <a:p>
            <a:r>
              <a:rPr lang="en-US" sz="2800" dirty="0"/>
              <a:t>The result-set will look like this:</a:t>
            </a:r>
          </a:p>
          <a:p>
            <a:endParaRPr lang="en-US" dirty="0"/>
          </a:p>
        </p:txBody>
      </p:sp>
    </p:spTree>
    <p:extLst>
      <p:ext uri="{BB962C8B-B14F-4D97-AF65-F5344CB8AC3E}">
        <p14:creationId xmlns:p14="http://schemas.microsoft.com/office/powerpoint/2010/main" val="118320718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1318"/>
          </a:xfrm>
        </p:spPr>
        <p:txBody>
          <a:bodyPr/>
          <a:lstStyle/>
          <a:p>
            <a:r>
              <a:rPr lang="en-US" dirty="0" smtClean="0"/>
              <a:t>Left Join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182551314"/>
              </p:ext>
            </p:extLst>
          </p:nvPr>
        </p:nvGraphicFramePr>
        <p:xfrm>
          <a:off x="252860" y="1390918"/>
          <a:ext cx="9148716" cy="2498502"/>
        </p:xfrm>
        <a:graphic>
          <a:graphicData uri="http://schemas.openxmlformats.org/drawingml/2006/table">
            <a:tbl>
              <a:tblPr firstRow="1" firstCol="1" bandRow="1">
                <a:tableStyleId>{5C22544A-7EE6-4342-B048-85BDC9FD1C3A}</a:tableStyleId>
              </a:tblPr>
              <a:tblGrid>
                <a:gridCol w="3049572"/>
                <a:gridCol w="3049572"/>
                <a:gridCol w="3049572"/>
              </a:tblGrid>
              <a:tr h="416417">
                <a:tc>
                  <a:txBody>
                    <a:bodyPr/>
                    <a:lstStyle/>
                    <a:p>
                      <a:pPr marL="0" marR="0">
                        <a:lnSpc>
                          <a:spcPct val="115000"/>
                        </a:lnSpc>
                        <a:spcBef>
                          <a:spcPts val="0"/>
                        </a:spcBef>
                        <a:spcAft>
                          <a:spcPts val="0"/>
                        </a:spcAft>
                      </a:pPr>
                      <a:r>
                        <a:rPr lang="en-US" sz="2400">
                          <a:effectLst/>
                        </a:rPr>
                        <a:t>LastName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FirstName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OrderNo</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16417">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22456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16417">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24562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16417">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77895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16417">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44678</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416417">
                <a:tc>
                  <a:txBody>
                    <a:bodyPr/>
                    <a:lstStyle/>
                    <a:p>
                      <a:pPr marL="0" marR="0">
                        <a:lnSpc>
                          <a:spcPct val="115000"/>
                        </a:lnSpc>
                        <a:spcBef>
                          <a:spcPts val="0"/>
                        </a:spcBef>
                        <a:spcAft>
                          <a:spcPts val="0"/>
                        </a:spcAft>
                      </a:pPr>
                      <a:r>
                        <a:rPr lang="en-US" sz="2400">
                          <a:effectLst/>
                        </a:rPr>
                        <a:t>Svendson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Tove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dirty="0">
                          <a:effectLst/>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Rectangle 4"/>
          <p:cNvSpPr/>
          <p:nvPr/>
        </p:nvSpPr>
        <p:spPr>
          <a:xfrm>
            <a:off x="677334" y="4293859"/>
            <a:ext cx="8596668" cy="1754326"/>
          </a:xfrm>
          <a:prstGeom prst="rect">
            <a:avLst/>
          </a:prstGeom>
        </p:spPr>
        <p:txBody>
          <a:bodyPr wrap="square">
            <a:spAutoFit/>
          </a:bodyPr>
          <a:lstStyle/>
          <a:p>
            <a:r>
              <a:rPr lang="en-US" sz="3600" dirty="0">
                <a:latin typeface="Calibri" panose="020F0502020204030204" pitchFamily="34" charset="0"/>
                <a:ea typeface="Calibri" panose="020F0502020204030204" pitchFamily="34" charset="0"/>
                <a:cs typeface="Times New Roman" panose="02020603050405020304" pitchFamily="18" charset="0"/>
              </a:rPr>
              <a:t>The LEFT JOIN keyword returns all the rows from the left table (Persons), even if there are no matches in the right table (Orders).</a:t>
            </a:r>
            <a:endParaRPr lang="en-US" sz="3600" dirty="0"/>
          </a:p>
        </p:txBody>
      </p:sp>
    </p:spTree>
    <p:extLst>
      <p:ext uri="{BB962C8B-B14F-4D97-AF65-F5344CB8AC3E}">
        <p14:creationId xmlns:p14="http://schemas.microsoft.com/office/powerpoint/2010/main" val="14943909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29803"/>
          </a:xfrm>
        </p:spPr>
        <p:txBody>
          <a:bodyPr/>
          <a:lstStyle/>
          <a:p>
            <a:r>
              <a:rPr lang="en-US" dirty="0"/>
              <a:t>RIGHT JOIN </a:t>
            </a:r>
            <a:endParaRPr lang="en-US" dirty="0"/>
          </a:p>
        </p:txBody>
      </p:sp>
      <p:sp>
        <p:nvSpPr>
          <p:cNvPr id="3" name="Content Placeholder 2"/>
          <p:cNvSpPr>
            <a:spLocks noGrp="1"/>
          </p:cNvSpPr>
          <p:nvPr>
            <p:ph idx="1"/>
          </p:nvPr>
        </p:nvSpPr>
        <p:spPr>
          <a:xfrm>
            <a:off x="677334" y="1339403"/>
            <a:ext cx="8596668" cy="4701959"/>
          </a:xfrm>
        </p:spPr>
        <p:txBody>
          <a:bodyPr>
            <a:normAutofit fontScale="92500" lnSpcReduction="20000"/>
          </a:bodyPr>
          <a:lstStyle/>
          <a:p>
            <a:r>
              <a:rPr lang="en-US" sz="2800" dirty="0"/>
              <a:t>The RIGHT JOIN keyword returns all the rows from the right table (table_name2), even if there are no matches in the left table (table_name1).</a:t>
            </a:r>
          </a:p>
          <a:p>
            <a:r>
              <a:rPr lang="en-US" sz="2800" b="1" dirty="0"/>
              <a:t>SQL RIGHT JOIN Syntax</a:t>
            </a:r>
          </a:p>
          <a:p>
            <a:r>
              <a:rPr lang="en-US" sz="2800" dirty="0">
                <a:latin typeface="Courier New" panose="02070309020205020404" pitchFamily="49" charset="0"/>
                <a:cs typeface="Courier New" panose="02070309020205020404" pitchFamily="49" charset="0"/>
              </a:rPr>
              <a:t>SELECT </a:t>
            </a:r>
            <a:r>
              <a:rPr lang="en-US" sz="2800" dirty="0" err="1">
                <a:latin typeface="Courier New" panose="02070309020205020404" pitchFamily="49" charset="0"/>
                <a:cs typeface="Courier New" panose="02070309020205020404" pitchFamily="49" charset="0"/>
              </a:rPr>
              <a:t>column_name</a:t>
            </a:r>
            <a:r>
              <a:rPr lang="en-US" sz="2800" dirty="0">
                <a:latin typeface="Courier New" panose="02070309020205020404" pitchFamily="49" charset="0"/>
                <a:cs typeface="Courier New" panose="02070309020205020404" pitchFamily="49" charset="0"/>
              </a:rPr>
              <a:t>(s)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FROM table_name1</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RIGHT JOIN table_name2</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ON table_name1.column_name=table_name2.column_name</a:t>
            </a:r>
          </a:p>
          <a:p>
            <a:r>
              <a:rPr lang="en-US" sz="2800" b="1" dirty="0"/>
              <a:t>PS:</a:t>
            </a:r>
            <a:r>
              <a:rPr lang="en-US" sz="2800" dirty="0"/>
              <a:t> In some databases RIGHT JOIN is called RIGHT OUTER JOIN.</a:t>
            </a:r>
          </a:p>
          <a:p>
            <a:endParaRPr lang="en-US" dirty="0"/>
          </a:p>
        </p:txBody>
      </p:sp>
    </p:spTree>
    <p:extLst>
      <p:ext uri="{BB962C8B-B14F-4D97-AF65-F5344CB8AC3E}">
        <p14:creationId xmlns:p14="http://schemas.microsoft.com/office/powerpoint/2010/main" val="390765934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55561"/>
          </a:xfrm>
        </p:spPr>
        <p:txBody>
          <a:bodyPr/>
          <a:lstStyle/>
          <a:p>
            <a:r>
              <a:rPr lang="en-US" dirty="0" smtClean="0"/>
              <a:t>Right Join contd.</a:t>
            </a:r>
            <a:endParaRPr lang="en-US" dirty="0"/>
          </a:p>
        </p:txBody>
      </p:sp>
      <p:sp>
        <p:nvSpPr>
          <p:cNvPr id="3" name="Content Placeholder 2"/>
          <p:cNvSpPr>
            <a:spLocks noGrp="1"/>
          </p:cNvSpPr>
          <p:nvPr>
            <p:ph idx="1"/>
          </p:nvPr>
        </p:nvSpPr>
        <p:spPr>
          <a:xfrm>
            <a:off x="677334" y="1365161"/>
            <a:ext cx="8596668" cy="4984124"/>
          </a:xfrm>
        </p:spPr>
        <p:txBody>
          <a:bodyPr>
            <a:normAutofit lnSpcReduction="10000"/>
          </a:bodyPr>
          <a:lstStyle/>
          <a:p>
            <a:r>
              <a:rPr lang="en-US" sz="2800" dirty="0"/>
              <a:t>Now we want to list all the orders with containing persons - if any, from the tables above.</a:t>
            </a:r>
          </a:p>
          <a:p>
            <a:r>
              <a:rPr lang="en-US" sz="2800" dirty="0"/>
              <a:t>We use the following SELECT statement:</a:t>
            </a:r>
          </a:p>
          <a:p>
            <a:r>
              <a:rPr lang="en-US" sz="2800" dirty="0">
                <a:latin typeface="Courier New" panose="02070309020205020404" pitchFamily="49" charset="0"/>
                <a:cs typeface="Courier New" panose="02070309020205020404" pitchFamily="49" charset="0"/>
              </a:rPr>
              <a:t>SELECT </a:t>
            </a:r>
            <a:r>
              <a:rPr lang="en-US" sz="2800" dirty="0" err="1">
                <a:latin typeface="Courier New" panose="02070309020205020404" pitchFamily="49" charset="0"/>
                <a:cs typeface="Courier New" panose="02070309020205020404" pitchFamily="49" charset="0"/>
              </a:rPr>
              <a:t>Persons.LastName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Persons.FirstName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Orders.OrderNo</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FROM Persons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RIGHT JOIN Orders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ON </a:t>
            </a:r>
            <a:r>
              <a:rPr lang="en-US" sz="2800" dirty="0" err="1">
                <a:latin typeface="Courier New" panose="02070309020205020404" pitchFamily="49" charset="0"/>
                <a:cs typeface="Courier New" panose="02070309020205020404" pitchFamily="49" charset="0"/>
              </a:rPr>
              <a:t>Persons.P_Id</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Orders.P_Id</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ORDER BY </a:t>
            </a:r>
            <a:r>
              <a:rPr lang="en-US" sz="2800" dirty="0" err="1">
                <a:latin typeface="Courier New" panose="02070309020205020404" pitchFamily="49" charset="0"/>
                <a:cs typeface="Courier New" panose="02070309020205020404" pitchFamily="49" charset="0"/>
              </a:rPr>
              <a:t>Persons.LastName</a:t>
            </a:r>
            <a:endParaRPr lang="en-US" sz="2800" dirty="0">
              <a:latin typeface="Courier New" panose="02070309020205020404" pitchFamily="49" charset="0"/>
              <a:cs typeface="Courier New" panose="02070309020205020404" pitchFamily="49" charset="0"/>
            </a:endParaRPr>
          </a:p>
          <a:p>
            <a:pPr marL="0" indent="0">
              <a:buNone/>
            </a:pPr>
            <a:endParaRPr lang="en-US" sz="2800" dirty="0"/>
          </a:p>
          <a:p>
            <a:r>
              <a:rPr lang="en-US" sz="2800" dirty="0"/>
              <a:t>The result-set will look like this:</a:t>
            </a:r>
          </a:p>
          <a:p>
            <a:endParaRPr lang="en-US" dirty="0"/>
          </a:p>
        </p:txBody>
      </p:sp>
    </p:spTree>
    <p:extLst>
      <p:ext uri="{BB962C8B-B14F-4D97-AF65-F5344CB8AC3E}">
        <p14:creationId xmlns:p14="http://schemas.microsoft.com/office/powerpoint/2010/main" val="41230001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8287"/>
          </a:xfrm>
        </p:spPr>
        <p:txBody>
          <a:bodyPr/>
          <a:lstStyle/>
          <a:p>
            <a:r>
              <a:rPr lang="en-US" dirty="0" smtClean="0"/>
              <a:t>Right Join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4292890301"/>
              </p:ext>
            </p:extLst>
          </p:nvPr>
        </p:nvGraphicFramePr>
        <p:xfrm>
          <a:off x="368770" y="1419377"/>
          <a:ext cx="8905233" cy="2476500"/>
        </p:xfrm>
        <a:graphic>
          <a:graphicData uri="http://schemas.openxmlformats.org/drawingml/2006/table">
            <a:tbl>
              <a:tblPr firstRow="1" firstCol="1" bandRow="1">
                <a:tableStyleId>{5C22544A-7EE6-4342-B048-85BDC9FD1C3A}</a:tableStyleId>
              </a:tblPr>
              <a:tblGrid>
                <a:gridCol w="2968411"/>
                <a:gridCol w="2968411"/>
                <a:gridCol w="2968411"/>
              </a:tblGrid>
              <a:tr h="345133">
                <a:tc>
                  <a:txBody>
                    <a:bodyPr/>
                    <a:lstStyle/>
                    <a:p>
                      <a:pPr marL="0" marR="0">
                        <a:lnSpc>
                          <a:spcPct val="115000"/>
                        </a:lnSpc>
                        <a:spcBef>
                          <a:spcPts val="0"/>
                        </a:spcBef>
                        <a:spcAft>
                          <a:spcPts val="0"/>
                        </a:spcAft>
                      </a:pPr>
                      <a:r>
                        <a:rPr lang="en-US" sz="2400">
                          <a:effectLst/>
                        </a:rPr>
                        <a:t>LastName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FirstName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OrderNo</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45133">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22456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45133">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24562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45133">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77895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45133">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44678</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345133">
                <a:tc>
                  <a:txBody>
                    <a:bodyPr/>
                    <a:lstStyle/>
                    <a:p>
                      <a:pPr marL="0" marR="0">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dirty="0">
                          <a:effectLst/>
                        </a:rPr>
                        <a:t>34764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Rectangle 4"/>
          <p:cNvSpPr/>
          <p:nvPr/>
        </p:nvSpPr>
        <p:spPr>
          <a:xfrm>
            <a:off x="677334" y="4396890"/>
            <a:ext cx="8596668" cy="1754326"/>
          </a:xfrm>
          <a:prstGeom prst="rect">
            <a:avLst/>
          </a:prstGeom>
        </p:spPr>
        <p:txBody>
          <a:bodyPr wrap="square">
            <a:spAutoFit/>
          </a:bodyPr>
          <a:lstStyle/>
          <a:p>
            <a:r>
              <a:rPr lang="en-US" sz="3600" dirty="0">
                <a:latin typeface="Calibri" panose="020F0502020204030204" pitchFamily="34" charset="0"/>
                <a:ea typeface="Calibri" panose="020F0502020204030204" pitchFamily="34" charset="0"/>
                <a:cs typeface="Times New Roman" panose="02020603050405020304" pitchFamily="18" charset="0"/>
              </a:rPr>
              <a:t>The RIGHT JOIN keyword returns all the rows from the right table (Orders), even if there are no matches in the left table (Persons).</a:t>
            </a:r>
            <a:endParaRPr lang="en-US" sz="3600" dirty="0"/>
          </a:p>
        </p:txBody>
      </p:sp>
    </p:spTree>
    <p:extLst>
      <p:ext uri="{BB962C8B-B14F-4D97-AF65-F5344CB8AC3E}">
        <p14:creationId xmlns:p14="http://schemas.microsoft.com/office/powerpoint/2010/main" val="425270640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678287"/>
          </a:xfrm>
        </p:spPr>
        <p:txBody>
          <a:bodyPr>
            <a:normAutofit/>
          </a:bodyPr>
          <a:lstStyle/>
          <a:p>
            <a:r>
              <a:rPr lang="en-US" dirty="0"/>
              <a:t>FULL JOIN </a:t>
            </a:r>
            <a:endParaRPr lang="en-US" dirty="0"/>
          </a:p>
        </p:txBody>
      </p:sp>
      <p:sp>
        <p:nvSpPr>
          <p:cNvPr id="3" name="Content Placeholder 2"/>
          <p:cNvSpPr>
            <a:spLocks noGrp="1"/>
          </p:cNvSpPr>
          <p:nvPr>
            <p:ph idx="1"/>
          </p:nvPr>
        </p:nvSpPr>
        <p:spPr>
          <a:xfrm>
            <a:off x="677334" y="1287887"/>
            <a:ext cx="8596668" cy="4753475"/>
          </a:xfrm>
        </p:spPr>
        <p:txBody>
          <a:bodyPr/>
          <a:lstStyle/>
          <a:p>
            <a:r>
              <a:rPr lang="en-US" sz="3200" dirty="0"/>
              <a:t>The FULL JOIN keyword return rows when there is a match in one of the tables.</a:t>
            </a:r>
          </a:p>
          <a:p>
            <a:r>
              <a:rPr lang="en-US" sz="3200" b="1" dirty="0"/>
              <a:t>SQL FULL JOIN Syntax</a:t>
            </a:r>
          </a:p>
          <a:p>
            <a:r>
              <a:rPr lang="en-US" sz="3200" dirty="0">
                <a:latin typeface="Courier New" panose="02070309020205020404" pitchFamily="49" charset="0"/>
                <a:cs typeface="Courier New" panose="02070309020205020404" pitchFamily="49" charset="0"/>
              </a:rPr>
              <a:t>SELECT </a:t>
            </a:r>
            <a:r>
              <a:rPr lang="en-US" sz="3200" dirty="0" err="1">
                <a:latin typeface="Courier New" panose="02070309020205020404" pitchFamily="49" charset="0"/>
                <a:cs typeface="Courier New" panose="02070309020205020404" pitchFamily="49" charset="0"/>
              </a:rPr>
              <a:t>column_name</a:t>
            </a:r>
            <a:r>
              <a:rPr lang="en-US" sz="3200" dirty="0">
                <a:latin typeface="Courier New" panose="02070309020205020404" pitchFamily="49" charset="0"/>
                <a:cs typeface="Courier New" panose="02070309020205020404" pitchFamily="49" charset="0"/>
              </a:rPr>
              <a:t>(s)</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FROM table_name1</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FULL JOIN table_name2</a:t>
            </a:r>
            <a:br>
              <a:rPr lang="en-US" sz="3200" dirty="0">
                <a:latin typeface="Courier New" panose="02070309020205020404" pitchFamily="49" charset="0"/>
                <a:cs typeface="Courier New" panose="02070309020205020404" pitchFamily="49" charset="0"/>
              </a:rPr>
            </a:br>
            <a:r>
              <a:rPr lang="en-US" sz="3200" dirty="0">
                <a:latin typeface="Courier New" panose="02070309020205020404" pitchFamily="49" charset="0"/>
                <a:cs typeface="Courier New" panose="02070309020205020404" pitchFamily="49" charset="0"/>
              </a:rPr>
              <a:t>ON table_name1.column_name=table_name2.column_name</a:t>
            </a:r>
          </a:p>
          <a:p>
            <a:endParaRPr lang="en-US" dirty="0"/>
          </a:p>
        </p:txBody>
      </p:sp>
    </p:spTree>
    <p:extLst>
      <p:ext uri="{BB962C8B-B14F-4D97-AF65-F5344CB8AC3E}">
        <p14:creationId xmlns:p14="http://schemas.microsoft.com/office/powerpoint/2010/main" val="40091787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04045"/>
          </a:xfrm>
        </p:spPr>
        <p:txBody>
          <a:bodyPr/>
          <a:lstStyle/>
          <a:p>
            <a:r>
              <a:rPr lang="en-US" dirty="0" smtClean="0"/>
              <a:t>Full Join contd.</a:t>
            </a:r>
            <a:endParaRPr lang="en-US" dirty="0"/>
          </a:p>
        </p:txBody>
      </p:sp>
      <p:sp>
        <p:nvSpPr>
          <p:cNvPr id="3" name="Content Placeholder 2"/>
          <p:cNvSpPr>
            <a:spLocks noGrp="1"/>
          </p:cNvSpPr>
          <p:nvPr>
            <p:ph idx="1"/>
          </p:nvPr>
        </p:nvSpPr>
        <p:spPr>
          <a:xfrm>
            <a:off x="677334" y="1313645"/>
            <a:ext cx="8596668" cy="4727717"/>
          </a:xfrm>
        </p:spPr>
        <p:txBody>
          <a:bodyPr>
            <a:normAutofit fontScale="92500" lnSpcReduction="10000"/>
          </a:bodyPr>
          <a:lstStyle/>
          <a:p>
            <a:r>
              <a:rPr lang="en-US" sz="2800" dirty="0"/>
              <a:t>Now we want to list all the persons and their orders, and all the orders with their persons.</a:t>
            </a:r>
          </a:p>
          <a:p>
            <a:r>
              <a:rPr lang="en-US" sz="2800" dirty="0"/>
              <a:t>We use the following SELECT statement:</a:t>
            </a:r>
          </a:p>
          <a:p>
            <a:r>
              <a:rPr lang="en-US" sz="2800" dirty="0">
                <a:latin typeface="Courier New" panose="02070309020205020404" pitchFamily="49" charset="0"/>
                <a:cs typeface="Courier New" panose="02070309020205020404" pitchFamily="49" charset="0"/>
              </a:rPr>
              <a:t>SELECT </a:t>
            </a:r>
            <a:r>
              <a:rPr lang="en-US" sz="2800" dirty="0" err="1">
                <a:latin typeface="Courier New" panose="02070309020205020404" pitchFamily="49" charset="0"/>
                <a:cs typeface="Courier New" panose="02070309020205020404" pitchFamily="49" charset="0"/>
              </a:rPr>
              <a:t>Persons.LastName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Persons.FirstName</a:t>
            </a:r>
            <a:r>
              <a:rPr lang="en-US" sz="2800" dirty="0">
                <a:latin typeface="Courier New" panose="02070309020205020404" pitchFamily="49" charset="0"/>
                <a:cs typeface="Courier New" panose="02070309020205020404" pitchFamily="49" charset="0"/>
              </a:rPr>
              <a:t>, </a:t>
            </a:r>
            <a:r>
              <a:rPr lang="en-US" sz="2800" dirty="0" err="1">
                <a:latin typeface="Courier New" panose="02070309020205020404" pitchFamily="49" charset="0"/>
                <a:cs typeface="Courier New" panose="02070309020205020404" pitchFamily="49" charset="0"/>
              </a:rPr>
              <a:t>Orders.OrderNo</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FROM Persons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FULL JOIN Orders</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ON </a:t>
            </a:r>
            <a:r>
              <a:rPr lang="en-US" sz="2800" dirty="0" err="1">
                <a:latin typeface="Courier New" panose="02070309020205020404" pitchFamily="49" charset="0"/>
                <a:cs typeface="Courier New" panose="02070309020205020404" pitchFamily="49" charset="0"/>
              </a:rPr>
              <a:t>Persons.P_Id</a:t>
            </a:r>
            <a:r>
              <a:rPr lang="en-US" sz="2800" dirty="0">
                <a:latin typeface="Courier New" panose="02070309020205020404" pitchFamily="49" charset="0"/>
                <a:cs typeface="Courier New" panose="02070309020205020404" pitchFamily="49" charset="0"/>
              </a:rPr>
              <a:t>=</a:t>
            </a:r>
            <a:r>
              <a:rPr lang="en-US" sz="2800" dirty="0" err="1">
                <a:latin typeface="Courier New" panose="02070309020205020404" pitchFamily="49" charset="0"/>
                <a:cs typeface="Courier New" panose="02070309020205020404" pitchFamily="49" charset="0"/>
              </a:rPr>
              <a:t>Orders.P_Id</a:t>
            </a:r>
            <a:r>
              <a:rPr lang="en-US" sz="2800" dirty="0">
                <a:latin typeface="Courier New" panose="02070309020205020404" pitchFamily="49" charset="0"/>
                <a:cs typeface="Courier New" panose="02070309020205020404" pitchFamily="49" charset="0"/>
              </a:rPr>
              <a:t/>
            </a:r>
            <a:br>
              <a:rPr lang="en-US" sz="2800" dirty="0">
                <a:latin typeface="Courier New" panose="02070309020205020404" pitchFamily="49" charset="0"/>
                <a:cs typeface="Courier New" panose="02070309020205020404" pitchFamily="49" charset="0"/>
              </a:rPr>
            </a:br>
            <a:r>
              <a:rPr lang="en-US" sz="2800" dirty="0">
                <a:latin typeface="Courier New" panose="02070309020205020404" pitchFamily="49" charset="0"/>
                <a:cs typeface="Courier New" panose="02070309020205020404" pitchFamily="49" charset="0"/>
              </a:rPr>
              <a:t>ORDER BY </a:t>
            </a:r>
            <a:r>
              <a:rPr lang="en-US" sz="2800" dirty="0" err="1">
                <a:latin typeface="Courier New" panose="02070309020205020404" pitchFamily="49" charset="0"/>
                <a:cs typeface="Courier New" panose="02070309020205020404" pitchFamily="49" charset="0"/>
              </a:rPr>
              <a:t>Persons.LastName</a:t>
            </a:r>
            <a:endParaRPr lang="en-US" sz="2800" dirty="0">
              <a:latin typeface="Courier New" panose="02070309020205020404" pitchFamily="49" charset="0"/>
              <a:cs typeface="Courier New" panose="02070309020205020404" pitchFamily="49" charset="0"/>
            </a:endParaRPr>
          </a:p>
          <a:p>
            <a:r>
              <a:rPr lang="en-US" sz="2800" dirty="0"/>
              <a:t> </a:t>
            </a:r>
          </a:p>
          <a:p>
            <a:r>
              <a:rPr lang="en-US" sz="2800" dirty="0"/>
              <a:t>The result-set will look like this:</a:t>
            </a:r>
          </a:p>
          <a:p>
            <a:endParaRPr lang="en-US" dirty="0"/>
          </a:p>
        </p:txBody>
      </p:sp>
    </p:spTree>
    <p:extLst>
      <p:ext uri="{BB962C8B-B14F-4D97-AF65-F5344CB8AC3E}">
        <p14:creationId xmlns:p14="http://schemas.microsoft.com/office/powerpoint/2010/main" val="219328006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71470"/>
          </a:xfrm>
        </p:spPr>
        <p:txBody>
          <a:bodyPr/>
          <a:lstStyle/>
          <a:p>
            <a:r>
              <a:rPr lang="en-US" dirty="0" smtClean="0"/>
              <a:t>Full Join contd.</a:t>
            </a:r>
            <a:endParaRPr lang="en-US" dirty="0"/>
          </a:p>
        </p:txBody>
      </p:sp>
      <p:graphicFrame>
        <p:nvGraphicFramePr>
          <p:cNvPr id="4" name="Content Placeholder 3"/>
          <p:cNvGraphicFramePr>
            <a:graphicFrameLocks noGrp="1"/>
          </p:cNvGraphicFramePr>
          <p:nvPr>
            <p:ph idx="1"/>
            <p:extLst>
              <p:ext uri="{D42A27DB-BD31-4B8C-83A1-F6EECF244321}">
                <p14:modId xmlns:p14="http://schemas.microsoft.com/office/powerpoint/2010/main" val="2205495357"/>
              </p:ext>
            </p:extLst>
          </p:nvPr>
        </p:nvGraphicFramePr>
        <p:xfrm>
          <a:off x="484680" y="1262130"/>
          <a:ext cx="8789322" cy="2889250"/>
        </p:xfrm>
        <a:graphic>
          <a:graphicData uri="http://schemas.openxmlformats.org/drawingml/2006/table">
            <a:tbl>
              <a:tblPr firstRow="1" firstCol="1" bandRow="1">
                <a:tableStyleId>{5C22544A-7EE6-4342-B048-85BDC9FD1C3A}</a:tableStyleId>
              </a:tblPr>
              <a:tblGrid>
                <a:gridCol w="2929774"/>
                <a:gridCol w="2929774"/>
                <a:gridCol w="2929774"/>
              </a:tblGrid>
              <a:tr h="296214">
                <a:tc>
                  <a:txBody>
                    <a:bodyPr/>
                    <a:lstStyle/>
                    <a:p>
                      <a:pPr marL="0" marR="0">
                        <a:lnSpc>
                          <a:spcPct val="115000"/>
                        </a:lnSpc>
                        <a:spcBef>
                          <a:spcPts val="0"/>
                        </a:spcBef>
                        <a:spcAft>
                          <a:spcPts val="0"/>
                        </a:spcAft>
                      </a:pPr>
                      <a:r>
                        <a:rPr lang="en-US" sz="2400" dirty="0" err="1">
                          <a:effectLst/>
                        </a:rPr>
                        <a:t>LastName</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FirstName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OrderNo</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22456</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Hansen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Ola</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24562</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77895</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Pettersen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Kari</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44678</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Svendson</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Tove</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r h="296214">
                <a:tc>
                  <a:txBody>
                    <a:bodyPr/>
                    <a:lstStyle/>
                    <a:p>
                      <a:pPr marL="0" marR="0">
                        <a:lnSpc>
                          <a:spcPct val="115000"/>
                        </a:lnSpc>
                        <a:spcBef>
                          <a:spcPts val="0"/>
                        </a:spcBef>
                        <a:spcAft>
                          <a:spcPts val="0"/>
                        </a:spcAft>
                      </a:pPr>
                      <a:r>
                        <a:rPr lang="en-US" sz="2400">
                          <a:effectLst/>
                        </a:rPr>
                        <a:t> </a:t>
                      </a:r>
                      <a:endParaRPr lang="en-US" sz="240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dirty="0">
                          <a:effectLst/>
                        </a:rPr>
                        <a:t> </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c>
                  <a:txBody>
                    <a:bodyPr/>
                    <a:lstStyle/>
                    <a:p>
                      <a:pPr marL="0" marR="0">
                        <a:lnSpc>
                          <a:spcPct val="115000"/>
                        </a:lnSpc>
                        <a:spcBef>
                          <a:spcPts val="0"/>
                        </a:spcBef>
                        <a:spcAft>
                          <a:spcPts val="0"/>
                        </a:spcAft>
                      </a:pPr>
                      <a:r>
                        <a:rPr lang="en-US" sz="2400" dirty="0">
                          <a:effectLst/>
                        </a:rPr>
                        <a:t>34764</a:t>
                      </a:r>
                      <a:endParaRPr lang="en-US" sz="2400" dirty="0">
                        <a:effectLst/>
                        <a:latin typeface="Calibri" panose="020F0502020204030204" pitchFamily="34" charset="0"/>
                        <a:ea typeface="Calibri" panose="020F0502020204030204" pitchFamily="34" charset="0"/>
                        <a:cs typeface="Times New Roman" panose="02020603050405020304" pitchFamily="18" charset="0"/>
                      </a:endParaRPr>
                    </a:p>
                  </a:txBody>
                  <a:tcPr marL="9525" marR="9525" marT="9525" marB="9525" anchor="ctr"/>
                </a:tc>
              </a:tr>
            </a:tbl>
          </a:graphicData>
        </a:graphic>
      </p:graphicFrame>
      <p:sp>
        <p:nvSpPr>
          <p:cNvPr id="5" name="Rectangle 4"/>
          <p:cNvSpPr/>
          <p:nvPr/>
        </p:nvSpPr>
        <p:spPr>
          <a:xfrm>
            <a:off x="574303" y="4180344"/>
            <a:ext cx="8596668" cy="2677656"/>
          </a:xfrm>
          <a:prstGeom prst="rect">
            <a:avLst/>
          </a:prstGeom>
        </p:spPr>
        <p:txBody>
          <a:bodyPr wrap="square">
            <a:spAutoFit/>
          </a:bodyPr>
          <a:lstStyle/>
          <a:p>
            <a:r>
              <a:rPr lang="en-US" sz="2800" dirty="0">
                <a:latin typeface="Calibri" panose="020F0502020204030204" pitchFamily="34" charset="0"/>
                <a:ea typeface="Calibri" panose="020F0502020204030204" pitchFamily="34" charset="0"/>
                <a:cs typeface="Times New Roman" panose="02020603050405020304" pitchFamily="18" charset="0"/>
              </a:rPr>
              <a:t>The FULL JOIN keyword returns all the rows from the left table (Persons), and all the rows from the right table (Orders). If there are rows in "Persons" that do not have matches in "Orders", or if there are rows in "Orders" that do not have matches in "Persons", those rows will be listed as well.</a:t>
            </a:r>
            <a:endParaRPr lang="en-US" sz="2800" dirty="0">
              <a:effectLst/>
              <a:latin typeface="Calibri" panose="020F0502020204030204" pitchFamily="34" charset="0"/>
              <a:ea typeface="Calibri" panose="020F0502020204030204" pitchFamily="34" charset="0"/>
              <a:cs typeface="Times New Roman" panose="02020603050405020304" pitchFamily="18" charset="0"/>
            </a:endParaRPr>
          </a:p>
        </p:txBody>
      </p:sp>
    </p:spTree>
    <p:extLst>
      <p:ext uri="{BB962C8B-B14F-4D97-AF65-F5344CB8AC3E}">
        <p14:creationId xmlns:p14="http://schemas.microsoft.com/office/powerpoint/2010/main" val="581477508"/>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22</TotalTime>
  <Words>882</Words>
  <Application>Microsoft Office PowerPoint</Application>
  <PresentationFormat>Widescreen</PresentationFormat>
  <Paragraphs>246</Paragraphs>
  <Slides>17</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17</vt:i4>
      </vt:variant>
    </vt:vector>
  </HeadingPairs>
  <TitlesOfParts>
    <vt:vector size="24" baseType="lpstr">
      <vt:lpstr>Arial</vt:lpstr>
      <vt:lpstr>Calibri</vt:lpstr>
      <vt:lpstr>Courier New</vt:lpstr>
      <vt:lpstr>Times New Roman</vt:lpstr>
      <vt:lpstr>Trebuchet MS</vt:lpstr>
      <vt:lpstr>Wingdings 3</vt:lpstr>
      <vt:lpstr>Facet</vt:lpstr>
      <vt:lpstr>SQL JOINS</vt:lpstr>
      <vt:lpstr>PowerPoint Presentation</vt:lpstr>
      <vt:lpstr>PowerPoint Presentation</vt:lpstr>
      <vt:lpstr>PowerPoint Presentation</vt:lpstr>
      <vt:lpstr>Different SQL JOINs </vt:lpstr>
      <vt:lpstr>INNER JOIN</vt:lpstr>
      <vt:lpstr>Inner Join contd.</vt:lpstr>
      <vt:lpstr>Inner join contd.</vt:lpstr>
      <vt:lpstr>Inner Join</vt:lpstr>
      <vt:lpstr>LEFT JOIN </vt:lpstr>
      <vt:lpstr>Left Join Contd.</vt:lpstr>
      <vt:lpstr>RIGHT JOIN </vt:lpstr>
      <vt:lpstr>Right Join contd.</vt:lpstr>
      <vt:lpstr>Right Join contd.</vt:lpstr>
      <vt:lpstr>FULL JOIN </vt:lpstr>
      <vt:lpstr>Full Join contd.</vt:lpstr>
      <vt:lpstr>Full Join contd.</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SQL JOINS</dc:title>
  <dc:creator>kirika</dc:creator>
  <cp:lastModifiedBy>kirika</cp:lastModifiedBy>
  <cp:revision>3</cp:revision>
  <dcterms:created xsi:type="dcterms:W3CDTF">2014-03-31T04:32:51Z</dcterms:created>
  <dcterms:modified xsi:type="dcterms:W3CDTF">2014-03-31T04:55:40Z</dcterms:modified>
</cp:coreProperties>
</file>