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5" r:id="rId1"/>
  </p:sldMasterIdLst>
  <p:sldIdLst>
    <p:sldId id="256" r:id="rId2"/>
    <p:sldId id="263" r:id="rId3"/>
    <p:sldId id="258" r:id="rId4"/>
    <p:sldId id="257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70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662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486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54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51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84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85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A54C80-263E-416B-A8E0-580EDEADCBDC}" type="datetimeFigureOut">
              <a:rPr lang="en-US" smtClean="0"/>
              <a:t>3/8/2016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319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548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34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629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7684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Normalization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92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Normalization </a:t>
            </a:r>
            <a:r>
              <a:rPr lang="en-US" sz="2800" dirty="0"/>
              <a:t>is the process of successively reducing relations with anomalies to produce smaller, well-structured relations. Following are some of the main goals of normalization: </a:t>
            </a:r>
          </a:p>
          <a:p>
            <a:pPr lvl="1"/>
            <a:r>
              <a:rPr lang="en-US" sz="2400" dirty="0"/>
              <a:t>Minimize data redundancy, thereby avoiding anomalies and conserving storage space. </a:t>
            </a:r>
          </a:p>
          <a:p>
            <a:pPr lvl="1"/>
            <a:r>
              <a:rPr lang="en-US" sz="2400" dirty="0"/>
              <a:t>Simplify the enforcement of referential integrity constraints.</a:t>
            </a:r>
          </a:p>
          <a:p>
            <a:pPr lvl="1"/>
            <a:r>
              <a:rPr lang="en-US" sz="2400" dirty="0"/>
              <a:t>Make it easier to maintain data (insert, update, and delete)</a:t>
            </a:r>
          </a:p>
          <a:p>
            <a:pPr lvl="1"/>
            <a:r>
              <a:rPr lang="en-US" sz="2400" dirty="0"/>
              <a:t>Provide a better design that is an improved representation of the real world and a stronger basis for future growth.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38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1" y="206062"/>
            <a:ext cx="11681138" cy="6651937"/>
          </a:xfrm>
        </p:spPr>
        <p:txBody>
          <a:bodyPr>
            <a:noAutofit/>
          </a:bodyPr>
          <a:lstStyle/>
          <a:p>
            <a:r>
              <a:rPr lang="en-US" sz="2500" i="1" dirty="0"/>
              <a:t>Normalization</a:t>
            </a:r>
            <a:r>
              <a:rPr lang="en-US" sz="2500" dirty="0"/>
              <a:t> is the process of applying a set of rules to tables that have been identified in order to simplify them. Its aim is to highlight dependencies between the various data items and reduce them. </a:t>
            </a:r>
          </a:p>
          <a:p>
            <a:r>
              <a:rPr lang="en-US" sz="2500" dirty="0"/>
              <a:t>The process:</a:t>
            </a:r>
          </a:p>
          <a:p>
            <a:pPr lvl="2"/>
            <a:r>
              <a:rPr lang="en-US" sz="2500" dirty="0"/>
              <a:t>1NF(first normal form): A table or relation is said to be in first normal form iff it contains no repeating groups. If there are repeating groups they should be isolated to form a new entity.</a:t>
            </a:r>
          </a:p>
          <a:p>
            <a:pPr lvl="2"/>
            <a:r>
              <a:rPr lang="en-US" sz="2500" dirty="0"/>
              <a:t>2NF (second normal form): A table is said to be in 2NF iff it is in 1NF and every non-key attribute is fully dependent in the key attribute. All non-key attributes not fully </a:t>
            </a:r>
            <a:r>
              <a:rPr lang="en-US" sz="2500" dirty="0" err="1"/>
              <a:t>dependant</a:t>
            </a:r>
            <a:r>
              <a:rPr lang="en-US" sz="2500" dirty="0"/>
              <a:t> on the key attribute should be isolated to form a new entity.</a:t>
            </a:r>
          </a:p>
          <a:p>
            <a:pPr lvl="2"/>
            <a:r>
              <a:rPr lang="en-US" sz="2500" dirty="0"/>
              <a:t>3NF (third normal form): A table is said to be in 3NF iff it is in 2NF and every non-key attribute is not dependent on any other non-key attribute. All non-key attributes dependent on other non-key attributes should be isolated to form a new entity.	</a:t>
            </a:r>
          </a:p>
        </p:txBody>
      </p:sp>
    </p:spTree>
    <p:extLst>
      <p:ext uri="{BB962C8B-B14F-4D97-AF65-F5344CB8AC3E}">
        <p14:creationId xmlns:p14="http://schemas.microsoft.com/office/powerpoint/2010/main" val="248612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www.sqa.org.uk/e-learning/MDBS01CD/images/pic018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82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56823"/>
            <a:ext cx="8596668" cy="5384539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Unormalized</a:t>
            </a:r>
            <a:r>
              <a:rPr lang="en-US" sz="3600" dirty="0"/>
              <a:t>(</a:t>
            </a:r>
            <a:r>
              <a:rPr lang="en-US" sz="3600" dirty="0" err="1"/>
              <a:t>project_code</a:t>
            </a:r>
            <a:r>
              <a:rPr lang="en-US" sz="3600" dirty="0"/>
              <a:t>, </a:t>
            </a:r>
            <a:r>
              <a:rPr lang="en-US" sz="3600" dirty="0" err="1"/>
              <a:t>project_title</a:t>
            </a:r>
            <a:r>
              <a:rPr lang="en-US" sz="3600" dirty="0"/>
              <a:t>, </a:t>
            </a:r>
            <a:r>
              <a:rPr lang="en-US" sz="3600" dirty="0" err="1"/>
              <a:t>Project_manager</a:t>
            </a:r>
            <a:r>
              <a:rPr lang="en-US" sz="3600" dirty="0"/>
              <a:t>, </a:t>
            </a:r>
            <a:r>
              <a:rPr lang="en-US" sz="3600" dirty="0" err="1"/>
              <a:t>project_budget</a:t>
            </a:r>
            <a:r>
              <a:rPr lang="en-US" sz="3600" dirty="0"/>
              <a:t>, </a:t>
            </a:r>
            <a:r>
              <a:rPr lang="en-US" sz="3600" dirty="0" err="1"/>
              <a:t>employee_no</a:t>
            </a:r>
            <a:r>
              <a:rPr lang="en-US" sz="3600" dirty="0"/>
              <a:t>, </a:t>
            </a:r>
            <a:r>
              <a:rPr lang="en-US" sz="3600" dirty="0" err="1"/>
              <a:t>employee_name</a:t>
            </a:r>
            <a:r>
              <a:rPr lang="en-US" sz="3600" dirty="0"/>
              <a:t>, </a:t>
            </a:r>
            <a:r>
              <a:rPr lang="en-US" sz="3600" dirty="0" err="1"/>
              <a:t>department_no</a:t>
            </a:r>
            <a:r>
              <a:rPr lang="en-US" sz="3600" dirty="0"/>
              <a:t>, </a:t>
            </a:r>
            <a:r>
              <a:rPr lang="en-US" sz="3600" dirty="0" err="1"/>
              <a:t>department_name</a:t>
            </a:r>
            <a:r>
              <a:rPr lang="en-US" sz="3600" dirty="0"/>
              <a:t>, </a:t>
            </a:r>
            <a:r>
              <a:rPr lang="en-US" sz="3600" dirty="0" err="1"/>
              <a:t>Hourly_rate</a:t>
            </a:r>
            <a:r>
              <a:rPr lang="en-US" sz="3600" dirty="0"/>
              <a:t>)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54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68" y="193183"/>
            <a:ext cx="11887200" cy="65424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499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36" y="0"/>
            <a:ext cx="12043064" cy="5476010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6" name="Rectangle 5"/>
          <p:cNvSpPr/>
          <p:nvPr/>
        </p:nvSpPr>
        <p:spPr>
          <a:xfrm>
            <a:off x="1229591" y="5476010"/>
            <a:ext cx="9296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Fiction Company</a:t>
            </a:r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</a:rPr>
              <a:t>has provided you with the report below. The unit price is negotiable. Their requirement is for you to create a database for them. Describe the process you would follow to ensure you present to Fiction a database representation that has functional dependencies minimized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44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2206\sep-dec 2013\BIT_YR_2_SEM_1\normalization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883" y="135082"/>
            <a:ext cx="10505208" cy="58292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39129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4835</TotalTime>
  <Words>328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</vt:lpstr>
      <vt:lpstr>Calibri Light</vt:lpstr>
      <vt:lpstr>Times New Roman</vt:lpstr>
      <vt:lpstr>Retrospect</vt:lpstr>
      <vt:lpstr>Introduction to Normalization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Normalization</dc:title>
  <dc:creator>kirika</dc:creator>
  <cp:lastModifiedBy>Sarah Ndegwa</cp:lastModifiedBy>
  <cp:revision>11</cp:revision>
  <dcterms:created xsi:type="dcterms:W3CDTF">2014-02-22T07:38:30Z</dcterms:created>
  <dcterms:modified xsi:type="dcterms:W3CDTF">2016-03-08T05:06:25Z</dcterms:modified>
</cp:coreProperties>
</file>